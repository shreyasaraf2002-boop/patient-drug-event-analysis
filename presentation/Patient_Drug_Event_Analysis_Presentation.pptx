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2" r:id="rId6"/>
    <p:sldId id="261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800080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4660"/>
  </p:normalViewPr>
  <p:slideViewPr>
    <p:cSldViewPr snapToGrid="0">
      <p:cViewPr>
        <p:scale>
          <a:sx n="96" d="100"/>
          <a:sy n="96" d="100"/>
        </p:scale>
        <p:origin x="427" y="-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EA954-BD35-4777-B5A4-4A43BDB511B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8E9AF-B3E6-4393-8E1B-6CBFA161F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49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8E9AF-B3E6-4393-8E1B-6CBFA161FE8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16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8E9AF-B3E6-4393-8E1B-6CBFA161FE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42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8E9AF-B3E6-4393-8E1B-6CBFA161FE8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587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18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25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58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68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99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578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94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35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14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4" name="Picture 13" descr="Test tubes with samples on a test tube rack">
            <a:extLst>
              <a:ext uri="{FF2B5EF4-FFF2-40B4-BE49-F238E27FC236}">
                <a16:creationId xmlns:a16="http://schemas.microsoft.com/office/drawing/2014/main" id="{7A729D0D-1768-64F8-80A2-5A6756F7CC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8659" b="473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12A361-F662-911E-0EB5-B15D3E996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91680" y="978409"/>
            <a:ext cx="4711629" cy="3678268"/>
          </a:xfrm>
        </p:spPr>
        <p:txBody>
          <a:bodyPr anchor="t">
            <a:norm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Drug Event Analysis</a:t>
            </a: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7000B-4F67-864C-9DF4-2FCD7C7D8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No.: 5</a:t>
            </a:r>
          </a:p>
          <a:p>
            <a:pPr algn="r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 Viraja Dasaraju</a:t>
            </a:r>
          </a:p>
          <a:p>
            <a:pPr algn="r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Shreya Saraf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6917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29A1A-0BE3-C966-A58B-859D4FBA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24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7186D378-AFCF-A96E-EC51-35C87E62C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136" y="1423101"/>
            <a:ext cx="4011798" cy="401179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BD2D3-53DB-60D5-3ECF-CE1FDE71E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248" y="2019808"/>
            <a:ext cx="6263640" cy="37673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Adverse Drug Events (ADEs) are a growing public health concern that can lead to severe outcomes such as hospitalization, disability, and death.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goal is to leverage machine learning on large-scale adverse drug event data to proactively flag life-threatening reactions early especially death outcomes.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whether a reported drug reaction is serious enough to result in death.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860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C79322-A139-0C79-3A9C-2484573C4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CA2F0188-3968-7B1B-4317-48D248D85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870" y="2211453"/>
            <a:ext cx="658999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57150" marR="0" lvl="0" indent="-28575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temporal and demographic trends in adverse drug events.</a:t>
            </a:r>
          </a:p>
          <a:p>
            <a:pPr marL="57150" marR="0" lvl="0" indent="-28575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extensive feature engineering on drug-reaction reports.</a:t>
            </a:r>
          </a:p>
          <a:p>
            <a:pPr marL="57150" marR="0" lvl="0" indent="-28575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and compare multiple ML models.</a:t>
            </a:r>
          </a:p>
          <a:p>
            <a:pPr marL="57150" indent="-28575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insights using clear and informative plots.</a:t>
            </a:r>
          </a:p>
        </p:txBody>
      </p:sp>
      <p:pic>
        <p:nvPicPr>
          <p:cNvPr id="27" name="Graphic 26" descr="Bullseye">
            <a:extLst>
              <a:ext uri="{FF2B5EF4-FFF2-40B4-BE49-F238E27FC236}">
                <a16:creationId xmlns:a16="http://schemas.microsoft.com/office/drawing/2014/main" id="{368F807C-A698-2DF7-9B9D-A5BEF5497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5732" y="1295400"/>
            <a:ext cx="4045350" cy="404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373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95532-5F68-4A19-BF7F-A347FBDBB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993CE-9C51-36BF-3AC2-54F0AF9DD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12264"/>
            <a:ext cx="11155680" cy="376732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OpenFDA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Volume: Over 1 million drug events reported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drug (brand &amp; active substance)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reaction (e.g., nausea, dermatitis)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info (age, gender, weight)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seriousness indicators (hospitalization, death, disability)</a:t>
            </a:r>
          </a:p>
        </p:txBody>
      </p:sp>
      <p:pic>
        <p:nvPicPr>
          <p:cNvPr id="4" name="Graphic 3" descr="Database">
            <a:extLst>
              <a:ext uri="{FF2B5EF4-FFF2-40B4-BE49-F238E27FC236}">
                <a16:creationId xmlns:a16="http://schemas.microsoft.com/office/drawing/2014/main" id="{AA66BCCC-E99B-ADC4-9329-645C4BCB1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9695" y="1477009"/>
            <a:ext cx="3295251" cy="40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22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7964-1E40-F38D-5F37-0D66D7F6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68683"/>
            <a:ext cx="11155680" cy="58194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Dataset: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0B12D-14F7-096B-C778-0651EE4ED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62" y="1174458"/>
            <a:ext cx="11677475" cy="23614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B27ED7-4688-B790-5680-F2C163899E9E}"/>
              </a:ext>
            </a:extLst>
          </p:cNvPr>
          <p:cNvSpPr txBox="1"/>
          <p:nvPr/>
        </p:nvSpPr>
        <p:spPr>
          <a:xfrm>
            <a:off x="343949" y="3535917"/>
            <a:ext cx="2056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Dataset: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CAD1D5-02CD-4687-77F6-8ECA89BCC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62" y="3936027"/>
            <a:ext cx="11590789" cy="238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47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D1980C8-FD80-43D8-9D6A-0262A4D53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914BC-04A6-9A26-CEE3-18E34FF4B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10053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Analysis: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65D4F30-2BD7-B90E-DFF1-9EDE6DEEB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614" y="482654"/>
            <a:ext cx="5011957" cy="2559105"/>
          </a:xfrm>
          <a:prstGeom prst="rect">
            <a:avLst/>
          </a:prstGeom>
        </p:spPr>
      </p:pic>
      <p:pic>
        <p:nvPicPr>
          <p:cNvPr id="5" name="Picture 4" descr="A graph with a line and a blue line&#10;&#10;AI-generated content may be incorrect.">
            <a:extLst>
              <a:ext uri="{FF2B5EF4-FFF2-40B4-BE49-F238E27FC236}">
                <a16:creationId xmlns:a16="http://schemas.microsoft.com/office/drawing/2014/main" id="{5FB2948E-926C-E481-1903-117CBFA5D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03" y="2517333"/>
            <a:ext cx="5011957" cy="244332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16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907EC7-709D-2AC2-E40B-70A64E0AD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855" y="3224637"/>
            <a:ext cx="5021182" cy="284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6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D1980C8-FD80-43D8-9D6A-0262A4D53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7FB981-D247-A7D8-6B0E-496718A9E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760564"/>
            <a:ext cx="6500997" cy="544803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Countrywide EDA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429D90-B8AD-D39A-5408-FBDE41C8C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648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D3D567FF-0250-D226-CDBD-CF5604216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1" y="4032975"/>
            <a:ext cx="5754558" cy="2553358"/>
          </a:xfrm>
          <a:prstGeom prst="rect">
            <a:avLst/>
          </a:prstGeom>
        </p:spPr>
      </p:pic>
      <p:pic>
        <p:nvPicPr>
          <p:cNvPr id="6" name="Picture 5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9326673F-8C7A-C8DA-93DF-574E24FECA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3" y="1577029"/>
            <a:ext cx="5093787" cy="24021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787132-C0CA-C147-63AE-072C020B1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160" y="1461789"/>
            <a:ext cx="6296792" cy="474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755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colorful bars&#10;&#10;AI-generated content may be incorrect.">
            <a:extLst>
              <a:ext uri="{FF2B5EF4-FFF2-40B4-BE49-F238E27FC236}">
                <a16:creationId xmlns:a16="http://schemas.microsoft.com/office/drawing/2014/main" id="{07BD3D80-2732-43EB-4324-7C78D0DDA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29" y="588374"/>
            <a:ext cx="10985637" cy="56769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11741F-51B9-F418-FBCD-8790AEC7DA97}"/>
              </a:ext>
            </a:extLst>
          </p:cNvPr>
          <p:cNvSpPr txBox="1"/>
          <p:nvPr/>
        </p:nvSpPr>
        <p:spPr>
          <a:xfrm>
            <a:off x="469783" y="302004"/>
            <a:ext cx="4689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Drugs: USA vs. Canada vs. Brazil</a:t>
            </a:r>
          </a:p>
        </p:txBody>
      </p:sp>
    </p:spTree>
    <p:extLst>
      <p:ext uri="{BB962C8B-B14F-4D97-AF65-F5344CB8AC3E}">
        <p14:creationId xmlns:p14="http://schemas.microsoft.com/office/powerpoint/2010/main" val="3365623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86C95-A80E-7C0C-CA5E-15AC0CD31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27708"/>
            <a:ext cx="4515234" cy="677759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Seriousness EDA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7228B-11CB-D5FF-9E33-1B9D0EC6C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88" y="1832282"/>
            <a:ext cx="5131845" cy="4162118"/>
          </a:xfrm>
          <a:prstGeom prst="rect">
            <a:avLst/>
          </a:prstGeom>
        </p:spPr>
      </p:pic>
      <p:pic>
        <p:nvPicPr>
          <p:cNvPr id="20" name="Picture 19" descr="A graph of a number of blue and green rectangular objects&#10;&#10;AI-generated content may be incorrect.">
            <a:extLst>
              <a:ext uri="{FF2B5EF4-FFF2-40B4-BE49-F238E27FC236}">
                <a16:creationId xmlns:a16="http://schemas.microsoft.com/office/drawing/2014/main" id="{E0324884-4336-4E23-8233-F37035659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332" y="3934438"/>
            <a:ext cx="6307668" cy="28473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CBAC9DA-1797-0A9F-ECB3-5E50AAA66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351" y="727708"/>
            <a:ext cx="5595456" cy="291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49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4AEA020-F47C-4D8F-B20C-E5BDB814A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screenshot of a chart&#10;&#10;AI-generated content may be incorrect.">
            <a:extLst>
              <a:ext uri="{FF2B5EF4-FFF2-40B4-BE49-F238E27FC236}">
                <a16:creationId xmlns:a16="http://schemas.microsoft.com/office/drawing/2014/main" id="{0DE024DD-291D-4CE7-15B1-B54596AA9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94" b="1"/>
          <a:stretch>
            <a:fillRect/>
          </a:stretch>
        </p:blipFill>
        <p:spPr>
          <a:xfrm>
            <a:off x="439122" y="627654"/>
            <a:ext cx="5408005" cy="2801346"/>
          </a:xfrm>
          <a:prstGeom prst="rect">
            <a:avLst/>
          </a:prstGeom>
        </p:spPr>
      </p:pic>
      <p:pic>
        <p:nvPicPr>
          <p:cNvPr id="11" name="Picture 10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B7858EF6-EE01-A4BF-7BA4-885FAECB0B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2" b="4"/>
          <a:stretch>
            <a:fillRect/>
          </a:stretch>
        </p:blipFill>
        <p:spPr>
          <a:xfrm>
            <a:off x="6184526" y="220491"/>
            <a:ext cx="5568352" cy="3126333"/>
          </a:xfrm>
          <a:prstGeom prst="rect">
            <a:avLst/>
          </a:prstGeom>
        </p:spPr>
      </p:pic>
      <p:pic>
        <p:nvPicPr>
          <p:cNvPr id="13" name="Picture 12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452F0D6C-AFAC-77DC-7436-708EB29B1D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6"/>
          <a:stretch>
            <a:fillRect/>
          </a:stretch>
        </p:blipFill>
        <p:spPr>
          <a:xfrm>
            <a:off x="473977" y="3632434"/>
            <a:ext cx="5476075" cy="2939140"/>
          </a:xfrm>
          <a:prstGeom prst="rect">
            <a:avLst/>
          </a:prstGeom>
        </p:spPr>
      </p:pic>
      <p:pic>
        <p:nvPicPr>
          <p:cNvPr id="15" name="Picture 14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FDDDEF0A-33DB-1BCE-8191-1B7742B41C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21" b="3"/>
          <a:stretch>
            <a:fillRect/>
          </a:stretch>
        </p:blipFill>
        <p:spPr>
          <a:xfrm>
            <a:off x="6184526" y="3518539"/>
            <a:ext cx="5702674" cy="31870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C131972-99C2-685F-6461-55EA92CE77C5}"/>
              </a:ext>
            </a:extLst>
          </p:cNvPr>
          <p:cNvSpPr txBox="1"/>
          <p:nvPr/>
        </p:nvSpPr>
        <p:spPr>
          <a:xfrm>
            <a:off x="473977" y="220491"/>
            <a:ext cx="39308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Seriousness by Drug and Reaction</a:t>
            </a:r>
          </a:p>
        </p:txBody>
      </p:sp>
    </p:spTree>
    <p:extLst>
      <p:ext uri="{BB962C8B-B14F-4D97-AF65-F5344CB8AC3E}">
        <p14:creationId xmlns:p14="http://schemas.microsoft.com/office/powerpoint/2010/main" val="3250503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4AEA020-F47C-4D8F-B20C-E5BDB814A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36570180-A04A-E95A-23E0-8B33686018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78" b="3"/>
          <a:stretch>
            <a:fillRect/>
          </a:stretch>
        </p:blipFill>
        <p:spPr>
          <a:xfrm>
            <a:off x="6096000" y="3511176"/>
            <a:ext cx="5875090" cy="2801817"/>
          </a:xfrm>
          <a:prstGeom prst="rect">
            <a:avLst/>
          </a:prstGeom>
        </p:spPr>
      </p:pic>
      <p:pic>
        <p:nvPicPr>
          <p:cNvPr id="9" name="Picture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873C3EE-FE1D-13CC-B4DB-47668310D7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10" r="1110" b="3"/>
          <a:stretch>
            <a:fillRect/>
          </a:stretch>
        </p:blipFill>
        <p:spPr>
          <a:xfrm>
            <a:off x="553673" y="3847342"/>
            <a:ext cx="5490919" cy="2745198"/>
          </a:xfrm>
          <a:prstGeom prst="rect">
            <a:avLst/>
          </a:prstGeom>
        </p:spPr>
      </p:pic>
      <p:pic>
        <p:nvPicPr>
          <p:cNvPr id="3" name="Picture 2" descr="A graph with red blue and green lines&#10;&#10;AI-generated content may be incorrect.">
            <a:extLst>
              <a:ext uri="{FF2B5EF4-FFF2-40B4-BE49-F238E27FC236}">
                <a16:creationId xmlns:a16="http://schemas.microsoft.com/office/drawing/2014/main" id="{1BA0FAEA-58CA-667F-D167-2690BB7D4F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92" r="2" b="2"/>
          <a:stretch>
            <a:fillRect/>
          </a:stretch>
        </p:blipFill>
        <p:spPr>
          <a:xfrm>
            <a:off x="629174" y="938265"/>
            <a:ext cx="5415417" cy="26337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B6FA96-4C2A-1D12-BB8E-519B3C3F1C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7409" y="165376"/>
            <a:ext cx="5739791" cy="32636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F0127E-C12F-1D87-4B24-F179A3E3F5DF}"/>
              </a:ext>
            </a:extLst>
          </p:cNvPr>
          <p:cNvSpPr txBox="1"/>
          <p:nvPr/>
        </p:nvSpPr>
        <p:spPr>
          <a:xfrm>
            <a:off x="383960" y="293615"/>
            <a:ext cx="1738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Trends:</a:t>
            </a:r>
          </a:p>
        </p:txBody>
      </p:sp>
    </p:spTree>
    <p:extLst>
      <p:ext uri="{BB962C8B-B14F-4D97-AF65-F5344CB8AC3E}">
        <p14:creationId xmlns:p14="http://schemas.microsoft.com/office/powerpoint/2010/main" val="2061642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0741CE-7068-9D56-16AA-B7A87C348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316" y="2525074"/>
            <a:ext cx="3077669" cy="21255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chart with blue squares and white text&#10;&#10;AI-generated content may be incorrect.">
            <a:extLst>
              <a:ext uri="{FF2B5EF4-FFF2-40B4-BE49-F238E27FC236}">
                <a16:creationId xmlns:a16="http://schemas.microsoft.com/office/drawing/2014/main" id="{BE10A73B-058D-F71B-4B03-5771762FD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765" y="965741"/>
            <a:ext cx="7868874" cy="53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02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77543-0AA4-5446-481A-37DA9A102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51237"/>
            <a:ext cx="11155680" cy="86717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Modeling: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D679F-80D3-4651-29FC-20A400FE1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6" y="1317072"/>
            <a:ext cx="11155680" cy="503339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evaluated multiple models to study performance across learning strategies.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was evaluated based 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Used: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— overall correctness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— correctness of predicted deaths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— how many real deaths were detected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F1‑Score — balance between precision and recall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— error visualization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Time — efficiency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528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9288-E03F-9C4C-41DA-0D676106F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45008"/>
            <a:ext cx="5317531" cy="80005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4A64BB-9E81-8E40-8816-671202BD6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61" y="1175194"/>
            <a:ext cx="3641763" cy="25125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9A9991-24AF-8B94-4ED4-B4278CE9B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045037"/>
            <a:ext cx="3703046" cy="27728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BD0CE87-0086-EE3D-0431-796BCCB6A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739" y="3970280"/>
            <a:ext cx="5142450" cy="23562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7DCC0A6-29B1-325B-7A14-07D71509E4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343" y="3748901"/>
            <a:ext cx="3918597" cy="279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01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394AF-4837-90BA-180A-0F22ADF4B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159849" cy="64905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3CD41-5E6D-B944-74F6-F324C02DB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1711354"/>
            <a:ext cx="10065699" cy="489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022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F957-F270-B1A1-B0BA-205165E19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56516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SMOTENC – Synthetic Minority Oversampling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F122C-E42F-C37F-2B05-8936304D5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74" y="1572153"/>
            <a:ext cx="3962953" cy="19147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92B852-193E-75CC-1E92-6BF7A8A4F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036" y="1543574"/>
            <a:ext cx="4096322" cy="1971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47B45A-5970-1A5B-7F89-925729D77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74" y="3910519"/>
            <a:ext cx="4182059" cy="19243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5EE702-240D-9453-D90E-CFB98F0A5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723" y="3834309"/>
            <a:ext cx="4143953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725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D1980C8-FD80-43D8-9D6A-0262A4D53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E00CE0-6958-4246-D1F0-EA14C6BAF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9"/>
            <a:ext cx="11164822" cy="8269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with SMOTENC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429D90-B8AD-D39A-5408-FBDE41C8C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648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with numbers and a number in blue squares&#10;&#10;AI-generated content may be incorrect.">
            <a:extLst>
              <a:ext uri="{FF2B5EF4-FFF2-40B4-BE49-F238E27FC236}">
                <a16:creationId xmlns:a16="http://schemas.microsoft.com/office/drawing/2014/main" id="{BF1DFBA2-678C-6D6D-CD3A-ABF6C6370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665" y="2719381"/>
            <a:ext cx="3007855" cy="3375641"/>
          </a:xfrm>
          <a:prstGeom prst="rect">
            <a:avLst/>
          </a:prstGeom>
        </p:spPr>
      </p:pic>
      <p:pic>
        <p:nvPicPr>
          <p:cNvPr id="4" name="Picture 3" descr="A graph with numbers and a number in blue squares&#10;&#10;AI-generated content may be incorrect.">
            <a:extLst>
              <a:ext uri="{FF2B5EF4-FFF2-40B4-BE49-F238E27FC236}">
                <a16:creationId xmlns:a16="http://schemas.microsoft.com/office/drawing/2014/main" id="{4D928065-DD5B-50A5-2B19-ACE6B18C4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9" y="2613120"/>
            <a:ext cx="2873690" cy="3330900"/>
          </a:xfrm>
          <a:prstGeom prst="rect">
            <a:avLst/>
          </a:prstGeom>
        </p:spPr>
      </p:pic>
      <p:pic>
        <p:nvPicPr>
          <p:cNvPr id="8" name="Picture 7" descr="A graph with numbers and a number in blue squares&#10;&#10;AI-generated content may be incorrect.">
            <a:extLst>
              <a:ext uri="{FF2B5EF4-FFF2-40B4-BE49-F238E27FC236}">
                <a16:creationId xmlns:a16="http://schemas.microsoft.com/office/drawing/2014/main" id="{103E7CD6-3E81-8275-6B92-81F87AF12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952" y="2613120"/>
            <a:ext cx="3022715" cy="3330900"/>
          </a:xfrm>
          <a:prstGeom prst="rect">
            <a:avLst/>
          </a:prstGeom>
        </p:spPr>
      </p:pic>
      <p:pic>
        <p:nvPicPr>
          <p:cNvPr id="10" name="Picture 9" descr="A graph with blue squares&#10;&#10;AI-generated content may be incorrect.">
            <a:extLst>
              <a:ext uri="{FF2B5EF4-FFF2-40B4-BE49-F238E27FC236}">
                <a16:creationId xmlns:a16="http://schemas.microsoft.com/office/drawing/2014/main" id="{962C8669-F15B-A522-BFC3-EECFC219D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240" y="2710391"/>
            <a:ext cx="2767351" cy="316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0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5CCEA-7B12-33D3-1E58-26FA0F318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936463"/>
            <a:ext cx="11155680" cy="816836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Performing Results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11328341-4A50-54D3-959D-D01A61B2DD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9930" y="1620357"/>
            <a:ext cx="917853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ranged between 64–67%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and Linear SVM performed best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showed good balance between precision and recall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SMOTENC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dropped to 47–51%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 on smaller data (post-filtering)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matrices still showed meaningful class separation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dropped slightly, but our model became fairer and more sensitive to real deaths.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24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D002-F739-EEE0-BCD6-8ED44A2E7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133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18332-51F7-58E0-B69A-03BFDB8FE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57823"/>
            <a:ext cx="11155680" cy="3767328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Unstructured data in original JSON format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High-cardinality features (e.g., 5000+ drug names)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categorical and numerical features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 of medical terms (e.g., reactions)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embeddings or transformers for drug/reaction text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external knowledge graphs for drug interaction context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deep learning with more balanced dataset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model on real-time streaming pipeline using Spark/Kafka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273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6AF91-EEF2-A0F2-6F4B-8D0C6AFC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7489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095D121-C38B-BB63-8AC3-27E9EFD6A6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140424"/>
            <a:ext cx="1095869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Processed and cleaned over 1 million drug reaction reports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complexity by grouping rare reactions and filtering top drugs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Tackled imbalance using SMOTENC to fairly represent fatal cases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Evaluated multiple ML models — best accuracy of 67% (imbalanced), and 50% (balanced)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valuable insights into how age, gender, country, and drug type relate to serious drug reactions</a:t>
            </a:r>
          </a:p>
        </p:txBody>
      </p:sp>
    </p:spTree>
    <p:extLst>
      <p:ext uri="{BB962C8B-B14F-4D97-AF65-F5344CB8AC3E}">
        <p14:creationId xmlns:p14="http://schemas.microsoft.com/office/powerpoint/2010/main" val="675832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B893A7-E3D4-659F-A8F2-D0B15D323AA0}"/>
              </a:ext>
            </a:extLst>
          </p:cNvPr>
          <p:cNvSpPr txBox="1"/>
          <p:nvPr/>
        </p:nvSpPr>
        <p:spPr>
          <a:xfrm>
            <a:off x="3036815" y="2097248"/>
            <a:ext cx="56961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6293904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493</Words>
  <Application>Microsoft Office PowerPoint</Application>
  <PresentationFormat>Widescreen</PresentationFormat>
  <Paragraphs>79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Bierstadt</vt:lpstr>
      <vt:lpstr>Neue Haas Grotesk Text Pro</vt:lpstr>
      <vt:lpstr>Times New Roman</vt:lpstr>
      <vt:lpstr>Wingdings</vt:lpstr>
      <vt:lpstr>GestaltVTI</vt:lpstr>
      <vt:lpstr>Patient Drug Event Analysis</vt:lpstr>
      <vt:lpstr>Problem Statement:</vt:lpstr>
      <vt:lpstr>Objectives:</vt:lpstr>
      <vt:lpstr>Dataset Overview:</vt:lpstr>
      <vt:lpstr>Raw Dataset:</vt:lpstr>
      <vt:lpstr>EDA Analysis:</vt:lpstr>
      <vt:lpstr>Countrywide EDA</vt:lpstr>
      <vt:lpstr>PowerPoint Presentation</vt:lpstr>
      <vt:lpstr>Seriousness EDA</vt:lpstr>
      <vt:lpstr>PowerPoint Presentation</vt:lpstr>
      <vt:lpstr>PowerPoint Presentation</vt:lpstr>
      <vt:lpstr>Correlation HeatMap</vt:lpstr>
      <vt:lpstr>Analysis &amp; Modeling:</vt:lpstr>
      <vt:lpstr>Evaluation Metrics:</vt:lpstr>
      <vt:lpstr>Confusion matrix:</vt:lpstr>
      <vt:lpstr>With SMOTENC – Synthetic Minority Oversampling</vt:lpstr>
      <vt:lpstr>Matrix with SMOTENC</vt:lpstr>
      <vt:lpstr>Best Performing Results</vt:lpstr>
      <vt:lpstr>Challenges &amp; Future Work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Dasaraju, Uma Viraja (UMKC-Student)</dc:creator>
  <cp:lastModifiedBy>Dasaraju, Uma Viraja (UMKC-Student)</cp:lastModifiedBy>
  <cp:revision>5</cp:revision>
  <dcterms:created xsi:type="dcterms:W3CDTF">2025-12-07T22:12:10Z</dcterms:created>
  <dcterms:modified xsi:type="dcterms:W3CDTF">2025-12-08T03:18:57Z</dcterms:modified>
</cp:coreProperties>
</file>